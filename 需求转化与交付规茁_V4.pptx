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1828800"/>
            <a:ext cx="5486400" cy="5486400"/>
          </a:xfrm>
          <a:prstGeom prst="ellipse">
            <a:avLst/>
          </a:prstGeom>
          <a:solidFill>
            <a:srgbClr val="00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3657600"/>
            <a:ext cx="3657600" cy="3657600"/>
          </a:xfrm>
          <a:prstGeom prst="ellipse">
            <a:avLst/>
          </a:prstGeom>
          <a:solidFill>
            <a:srgbClr val="00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6984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000" b="1">
                <a:solidFill>
                  <a:srgbClr val="FFFFFF"/>
                </a:solidFill>
              </a:defRPr>
            </a:pPr>
            <a:r>
              <a:t>需求转化与交付规范</a:t>
            </a:r>
          </a:p>
        </p:txBody>
      </p:sp>
      <p:sp>
        <p:nvSpPr>
          <p:cNvPr id="6" name="Rectangle 5"/>
          <p:cNvSpPr/>
          <p:nvPr/>
        </p:nvSpPr>
        <p:spPr>
          <a:xfrm>
            <a:off x="3931920" y="3657600"/>
            <a:ext cx="4297680" cy="36576"/>
          </a:xfrm>
          <a:prstGeom prst="rect">
            <a:avLst/>
          </a:prstGeom>
          <a:solidFill>
            <a:srgbClr val="007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931920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8CA0B4"/>
                </a:solidFill>
              </a:defRPr>
            </a:pPr>
            <a:r>
              <a:t>从客户需求到项目交付的规范流程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73152"/>
          </a:xfrm>
          <a:prstGeom prst="rect">
            <a:avLst/>
          </a:prstGeom>
          <a:solidFill>
            <a:srgbClr val="007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课程安排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645920" cy="45720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1234440"/>
            <a:ext cx="548640" cy="548640"/>
          </a:xfrm>
          <a:prstGeom prst="ellipse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307592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需求转化流程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67335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C96A0"/>
                </a:solidFill>
              </a:defRPr>
            </a:pPr>
            <a:r>
              <a:t>从需求到交付的完整链路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286000"/>
            <a:ext cx="548640" cy="548640"/>
          </a:xfrm>
          <a:prstGeom prst="ellipse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359152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需求确认规范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72491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C96A0"/>
                </a:solidFill>
              </a:defRPr>
            </a:pPr>
            <a:r>
              <a:t>确保需求理解准确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3337560"/>
            <a:ext cx="548640" cy="548640"/>
          </a:xfrm>
          <a:prstGeom prst="ellipse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410712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售前交接规范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77647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C96A0"/>
                </a:solidFill>
              </a:defRPr>
            </a:pPr>
            <a:r>
              <a:t>项目交接的完整内容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389120"/>
            <a:ext cx="548640" cy="548640"/>
          </a:xfrm>
          <a:prstGeom prst="ellipse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462272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常见问题处理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828031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C96A0"/>
                </a:solidFill>
              </a:defRPr>
            </a:pPr>
            <a:r>
              <a:t>变更、蔓延、不满意</a:t>
            </a:r>
          </a:p>
        </p:txBody>
      </p:sp>
      <p:sp>
        <p:nvSpPr>
          <p:cNvPr id="17" name="Oval 16"/>
          <p:cNvSpPr/>
          <p:nvPr/>
        </p:nvSpPr>
        <p:spPr>
          <a:xfrm>
            <a:off x="502920" y="5440679"/>
            <a:ext cx="548640" cy="548640"/>
          </a:xfrm>
          <a:prstGeom prst="ellipse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5513831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课堂练习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87959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C96A0"/>
                </a:solidFill>
              </a:defRPr>
            </a:pPr>
            <a:r>
              <a:t>需求转化模拟演练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需求转化五阶段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645920" cy="45720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" y="1371600"/>
            <a:ext cx="640080" cy="640080"/>
          </a:xfrm>
          <a:prstGeom prst="ellipse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需求采集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6A0AA"/>
                </a:solidFill>
              </a:defRPr>
            </a:pPr>
            <a:r>
              <a:t>调研、访谈、问卷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1691640"/>
            <a:ext cx="457200" cy="18288"/>
          </a:xfrm>
          <a:prstGeom prst="rect">
            <a:avLst/>
          </a:prstGeom>
          <a:solidFill>
            <a:srgbClr val="3C465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383279" y="1371600"/>
            <a:ext cx="640080" cy="640080"/>
          </a:xfrm>
          <a:prstGeom prst="ellipse">
            <a:avLst/>
          </a:prstGeom>
          <a:solidFill>
            <a:srgbClr val="825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21945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需求分析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260604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6A0AA"/>
                </a:solidFill>
              </a:defRPr>
            </a:pPr>
            <a:r>
              <a:t>分类、排序、可行性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7720" y="1691640"/>
            <a:ext cx="457200" cy="18288"/>
          </a:xfrm>
          <a:prstGeom prst="rect">
            <a:avLst/>
          </a:prstGeom>
          <a:solidFill>
            <a:srgbClr val="3C465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15000" y="1371600"/>
            <a:ext cx="640080" cy="640080"/>
          </a:xfrm>
          <a:prstGeom prst="ellipse">
            <a:avLst/>
          </a:prstGeom>
          <a:solidFill>
            <a:srgbClr val="00B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1945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方案设计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60604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6A0AA"/>
                </a:solidFill>
              </a:defRPr>
            </a:pPr>
            <a:r>
              <a:t>技术方案、实施计划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49440" y="1691640"/>
            <a:ext cx="457200" cy="18288"/>
          </a:xfrm>
          <a:prstGeom prst="rect">
            <a:avLst/>
          </a:prstGeom>
          <a:solidFill>
            <a:srgbClr val="3C465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46719" y="1371600"/>
            <a:ext cx="640080" cy="640080"/>
          </a:xfrm>
          <a:prstGeom prst="ellipse">
            <a:avLst/>
          </a:prstGeom>
          <a:solidFill>
            <a:srgbClr val="00C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59" y="21945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需求确认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59" y="260604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6A0AA"/>
                </a:solidFill>
              </a:defRPr>
            </a:pPr>
            <a:r>
              <a:t>确认书、原型、演练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81159" y="1691640"/>
            <a:ext cx="457200" cy="18288"/>
          </a:xfrm>
          <a:prstGeom prst="rect">
            <a:avLst/>
          </a:prstGeom>
          <a:solidFill>
            <a:srgbClr val="3C465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378440" y="1371600"/>
            <a:ext cx="640080" cy="640080"/>
          </a:xfrm>
          <a:prstGeom prst="ellipse">
            <a:avLst/>
          </a:prstGeom>
          <a:solidFill>
            <a:srgbClr val="FA9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21945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项目交接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260604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6A0AA"/>
                </a:solidFill>
              </a:defRPr>
            </a:pPr>
            <a:r>
              <a:t>交接给实施团队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阶段一：需求采集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645920" cy="45720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54480" y="1234440"/>
            <a:ext cx="640080" cy="640080"/>
          </a:xfrm>
          <a:prstGeom prst="ellipse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474720" cy="1645920"/>
          </a:xfrm>
          <a:prstGeom prst="round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3474720" cy="73152"/>
          </a:xfrm>
          <a:prstGeom prst="round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客户访谈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3108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B4BE"/>
                </a:solidFill>
              </a:defRPr>
            </a:pPr>
            <a:r>
              <a:t>与业务、IT、一线用户</a:t>
            </a:r>
            <a:br/>
            <a:r>
              <a:t>分别访谈，了解不同角色需求</a:t>
            </a:r>
          </a:p>
        </p:txBody>
      </p:sp>
      <p:sp>
        <p:nvSpPr>
          <p:cNvPr id="10" name="Oval 9"/>
          <p:cNvSpPr/>
          <p:nvPr/>
        </p:nvSpPr>
        <p:spPr>
          <a:xfrm>
            <a:off x="5486400" y="1234440"/>
            <a:ext cx="640080" cy="640080"/>
          </a:xfrm>
          <a:prstGeom prst="ellipse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011680"/>
            <a:ext cx="3474720" cy="1645920"/>
          </a:xfrm>
          <a:prstGeom prst="round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2011680"/>
            <a:ext cx="3474720" cy="73152"/>
          </a:xfrm>
          <a:prstGeom prst="round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19456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问卷调查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606040"/>
            <a:ext cx="3108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B4BE"/>
                </a:solidFill>
              </a:defRPr>
            </a:pPr>
            <a:r>
              <a:t>针对大量用户的需求</a:t>
            </a:r>
            <a:br/>
            <a:r>
              <a:t>通过问卷收集</a:t>
            </a:r>
          </a:p>
        </p:txBody>
      </p:sp>
      <p:sp>
        <p:nvSpPr>
          <p:cNvPr id="15" name="Oval 14"/>
          <p:cNvSpPr/>
          <p:nvPr/>
        </p:nvSpPr>
        <p:spPr>
          <a:xfrm>
            <a:off x="9418319" y="1234440"/>
            <a:ext cx="640080" cy="640080"/>
          </a:xfrm>
          <a:prstGeom prst="ellipse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2011680"/>
            <a:ext cx="3474720" cy="1645920"/>
          </a:xfrm>
          <a:prstGeom prst="round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21040" y="2011680"/>
            <a:ext cx="3474720" cy="73152"/>
          </a:xfrm>
          <a:prstGeom prst="round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19" y="219456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系统调研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19" y="2606040"/>
            <a:ext cx="3108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B4BE"/>
                </a:solidFill>
              </a:defRPr>
            </a:pPr>
            <a:r>
              <a:t>调研现有系统的功能和数据</a:t>
            </a:r>
            <a:br/>
            <a:r>
              <a:t>发现问题和改进点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931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96FF"/>
                </a:solidFill>
              </a:defRPr>
            </a:pPr>
            <a:r>
              <a:t>注意事项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3434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4BEC8"/>
                </a:solidFill>
              </a:defRPr>
            </a:pPr>
            <a:r>
              <a:t>• 采集要全面  —  不要只听领导的话，要了解一线用户</a:t>
            </a:r>
            <a:br/>
            <a:r>
              <a:t>• 记录要详细  —  原话记录，不要主观理解</a:t>
            </a:r>
            <a:br/>
            <a:r>
              <a:t>• 确认要充分  —  复述确认，避免理解偏差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阶段二：需求分析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645920" cy="45720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3474720" cy="2011680"/>
          </a:xfrm>
          <a:prstGeom prst="roundRect">
            <a:avLst/>
          </a:prstGeom>
          <a:solidFill>
            <a:srgbClr val="0F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143000"/>
            <a:ext cx="3474720" cy="73152"/>
          </a:xfrm>
          <a:prstGeom prst="round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分类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31089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B4BE"/>
                </a:solidFill>
              </a:defRPr>
            </a:pPr>
            <a:r>
              <a:t>功能需求</a:t>
            </a:r>
            <a:br/>
            <a:r>
              <a:t>非功能需求</a:t>
            </a:r>
            <a:br/>
            <a:r>
              <a:t>数据需求</a:t>
            </a:r>
            <a:br/>
            <a:r>
              <a:t>集成需求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143000"/>
            <a:ext cx="3474720" cy="2011680"/>
          </a:xfrm>
          <a:prstGeom prst="roundRect">
            <a:avLst/>
          </a:prstGeom>
          <a:solidFill>
            <a:srgbClr val="0F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1143000"/>
            <a:ext cx="3474720" cy="73152"/>
          </a:xfrm>
          <a:prstGeom prst="round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3258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排序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37360"/>
            <a:ext cx="31089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B4BE"/>
                </a:solidFill>
              </a:defRPr>
            </a:pPr>
            <a:r>
              <a:t>业务价值</a:t>
            </a:r>
            <a:br/>
            <a:r>
              <a:t>技术难度</a:t>
            </a:r>
            <a:br/>
            <a:r>
              <a:t>实施周期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143000"/>
            <a:ext cx="3474720" cy="2011680"/>
          </a:xfrm>
          <a:prstGeom prst="roundRect">
            <a:avLst/>
          </a:prstGeom>
          <a:solidFill>
            <a:srgbClr val="0F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21040" y="1143000"/>
            <a:ext cx="3474720" cy="73152"/>
          </a:xfrm>
          <a:prstGeom prst="round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19" y="13258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19" y="1737360"/>
            <a:ext cx="31089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B4BE"/>
                </a:solidFill>
              </a:defRPr>
            </a:pPr>
            <a:r>
              <a:t>技术可行性</a:t>
            </a:r>
            <a:br/>
            <a:r>
              <a:t>成本合理性</a:t>
            </a:r>
            <a:br/>
            <a:r>
              <a:t>风险可控性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4747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B4FF"/>
                </a:solidFill>
              </a:defRPr>
            </a:pPr>
            <a:r>
              <a:t>→ 输出：需求清单（包含需求描述、类型、优先级、验收标准）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阶段三：需求确认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645920" cy="45720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B464"/>
                </a:solidFill>
              </a:defRPr>
            </a:pPr>
            <a:r>
              <a:t>为什么需求确认很重要？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EC8"/>
                </a:solidFill>
              </a:defRPr>
            </a:pPr>
            <a:r>
              <a:t>很多项目失败的原因就是需求理解偏差</a:t>
            </a:r>
          </a:p>
        </p:txBody>
      </p:sp>
      <p:sp>
        <p:nvSpPr>
          <p:cNvPr id="7" name="Oval 6"/>
          <p:cNvSpPr/>
          <p:nvPr/>
        </p:nvSpPr>
        <p:spPr>
          <a:xfrm>
            <a:off x="1645920" y="2286000"/>
            <a:ext cx="548640" cy="54864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26080"/>
            <a:ext cx="3474720" cy="1645920"/>
          </a:xfrm>
          <a:prstGeom prst="roundRect">
            <a:avLst/>
          </a:prstGeom>
          <a:solidFill>
            <a:srgbClr val="0F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2926080"/>
            <a:ext cx="3474720" cy="73152"/>
          </a:xfrm>
          <a:prstGeom prst="round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10896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需求确认书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20440"/>
            <a:ext cx="3108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B4BE"/>
                </a:solidFill>
              </a:defRPr>
            </a:pPr>
            <a:r>
              <a:t>整理成文档</a:t>
            </a:r>
            <a:br/>
            <a:r>
              <a:t>让客户签字确认</a:t>
            </a:r>
          </a:p>
        </p:txBody>
      </p:sp>
      <p:sp>
        <p:nvSpPr>
          <p:cNvPr id="12" name="Oval 11"/>
          <p:cNvSpPr/>
          <p:nvPr/>
        </p:nvSpPr>
        <p:spPr>
          <a:xfrm>
            <a:off x="5577840" y="2286000"/>
            <a:ext cx="548640" cy="548640"/>
          </a:xfrm>
          <a:prstGeom prst="ellipse">
            <a:avLst/>
          </a:prstGeom>
          <a:solidFill>
            <a:srgbClr val="00B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926080"/>
            <a:ext cx="3474720" cy="1645920"/>
          </a:xfrm>
          <a:prstGeom prst="roundRect">
            <a:avLst/>
          </a:prstGeom>
          <a:solidFill>
            <a:srgbClr val="0F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2926080"/>
            <a:ext cx="3474720" cy="73152"/>
          </a:xfrm>
          <a:prstGeom prst="round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310896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原型演示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520440"/>
            <a:ext cx="3108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B4BE"/>
                </a:solidFill>
              </a:defRPr>
            </a:pPr>
            <a:r>
              <a:t>通过原型</a:t>
            </a:r>
            <a:br/>
            <a:r>
              <a:t>让客户直观看到效果</a:t>
            </a:r>
          </a:p>
        </p:txBody>
      </p:sp>
      <p:sp>
        <p:nvSpPr>
          <p:cNvPr id="17" name="Oval 16"/>
          <p:cNvSpPr/>
          <p:nvPr/>
        </p:nvSpPr>
        <p:spPr>
          <a:xfrm>
            <a:off x="9509760" y="2286000"/>
            <a:ext cx="548640" cy="548640"/>
          </a:xfrm>
          <a:prstGeom prst="ellipse">
            <a:avLst/>
          </a:prstGeom>
          <a:solidFill>
            <a:srgbClr val="B4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2926080"/>
            <a:ext cx="3474720" cy="1645920"/>
          </a:xfrm>
          <a:prstGeom prst="roundRect">
            <a:avLst/>
          </a:prstGeom>
          <a:solidFill>
            <a:srgbClr val="0F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21040" y="2926080"/>
            <a:ext cx="3474720" cy="73152"/>
          </a:xfrm>
          <a:prstGeom prst="round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19" y="310896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场景演练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19" y="3520440"/>
            <a:ext cx="3108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B4BE"/>
                </a:solidFill>
              </a:defRPr>
            </a:pPr>
            <a:r>
              <a:t>模拟业务场景</a:t>
            </a:r>
            <a:br/>
            <a:r>
              <a:t>验证需求覆盖完整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46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C832"/>
                </a:solidFill>
              </a:defRPr>
            </a:pPr>
            <a:r>
              <a:t>记住：需求确认宁可多做，不要少做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阶段四：售前交接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645920" cy="45720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" y="1097280"/>
            <a:ext cx="2194560" cy="2103120"/>
          </a:xfrm>
          <a:prstGeom prst="roundRect">
            <a:avLst/>
          </a:prstGeom>
          <a:solidFill>
            <a:srgbClr val="0F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" y="1097280"/>
            <a:ext cx="2194560" cy="73152"/>
          </a:xfrm>
          <a:prstGeom prst="round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背景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1828800" cy="1371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B4BE"/>
                </a:solidFill>
              </a:defRPr>
            </a:pPr>
            <a:r>
              <a:t>组织架构</a:t>
            </a:r>
            <a:br/>
            <a:r>
              <a:t>决策流程</a:t>
            </a:r>
            <a:br/>
            <a:r>
              <a:t>关键人员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80" y="1097280"/>
            <a:ext cx="2194560" cy="2103120"/>
          </a:xfrm>
          <a:prstGeom prst="roundRect">
            <a:avLst/>
          </a:prstGeom>
          <a:solidFill>
            <a:srgbClr val="0F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697480" y="1097280"/>
            <a:ext cx="2194560" cy="73152"/>
          </a:xfrm>
          <a:prstGeom prst="round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需求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1691640"/>
            <a:ext cx="1828800" cy="1371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B4BE"/>
                </a:solidFill>
              </a:defRPr>
            </a:pPr>
            <a:r>
              <a:t>需求清单</a:t>
            </a:r>
            <a:br/>
            <a:r>
              <a:t>优先级</a:t>
            </a:r>
            <a:br/>
            <a:r>
              <a:t>验收标准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4920" y="1097280"/>
            <a:ext cx="2194560" cy="2103120"/>
          </a:xfrm>
          <a:prstGeom prst="roundRect">
            <a:avLst/>
          </a:prstGeom>
          <a:solidFill>
            <a:srgbClr val="0F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74920" y="1097280"/>
            <a:ext cx="2194560" cy="73152"/>
          </a:xfrm>
          <a:prstGeom prst="round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57800" y="12801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方案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1691640"/>
            <a:ext cx="1828800" cy="1371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B4BE"/>
                </a:solidFill>
              </a:defRPr>
            </a:pPr>
            <a:r>
              <a:t>系统架构</a:t>
            </a:r>
            <a:br/>
            <a:r>
              <a:t>技术选型</a:t>
            </a:r>
            <a:br/>
            <a:r>
              <a:t>部署方案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0" y="1097280"/>
            <a:ext cx="2194560" cy="2103120"/>
          </a:xfrm>
          <a:prstGeom prst="roundRect">
            <a:avLst/>
          </a:prstGeom>
          <a:solidFill>
            <a:srgbClr val="0F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52360" y="1097280"/>
            <a:ext cx="2194560" cy="73152"/>
          </a:xfrm>
          <a:prstGeom prst="round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5240" y="12801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计划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1691640"/>
            <a:ext cx="1828800" cy="1371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B4BE"/>
                </a:solidFill>
              </a:defRPr>
            </a:pPr>
            <a:r>
              <a:t>里程碑</a:t>
            </a:r>
            <a:br/>
            <a:r>
              <a:t>时间节点</a:t>
            </a:r>
            <a:br/>
            <a:r>
              <a:t>资源安排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29800" y="1097280"/>
            <a:ext cx="2194560" cy="2103120"/>
          </a:xfrm>
          <a:prstGeom prst="roundRect">
            <a:avLst/>
          </a:prstGeom>
          <a:solidFill>
            <a:srgbClr val="0F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829800" y="1097280"/>
            <a:ext cx="2194560" cy="73152"/>
          </a:xfrm>
          <a:prstGeom prst="round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12680" y="12801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风险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12680" y="1691640"/>
            <a:ext cx="1828800" cy="1371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B4BE"/>
                </a:solidFill>
              </a:defRPr>
            </a:pPr>
            <a:r>
              <a:t>已识别风险</a:t>
            </a:r>
            <a:br/>
            <a:r>
              <a:t>及应对措施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4747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4A0FF"/>
                </a:solidFill>
              </a:defRPr>
            </a:pPr>
            <a:r>
              <a:t>→ 角色转变：交接完成后，售前从主导转为支持实施团队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常见问题处理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645920" cy="45720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097280" cy="457200"/>
          </a:xfrm>
          <a:prstGeom prst="roundRect">
            <a:avLst/>
          </a:prstGeom>
          <a:solidFill>
            <a:srgbClr val="FA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需求变更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4BEC8"/>
                </a:solidFill>
              </a:defRPr>
            </a:pPr>
            <a:r>
              <a:t>客户在项目过程中提出新需求</a:t>
            </a:r>
            <a:br/>
            <a:r>
              <a:t>建立变更流程，评估影响，签订协议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926080"/>
            <a:ext cx="1097280" cy="457200"/>
          </a:xfrm>
          <a:prstGeom prst="roundRect">
            <a:avLst/>
          </a:prstGeom>
          <a:solidFill>
            <a:srgbClr val="FAB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范围蔓延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290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4BEC8"/>
                </a:solidFill>
              </a:defRPr>
            </a:pPr>
            <a:r>
              <a:t>项目范围超出原定边界</a:t>
            </a:r>
            <a:br/>
            <a:r>
              <a:t>明确边界，超出范围单独报价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754880"/>
            <a:ext cx="1097280" cy="457200"/>
          </a:xfrm>
          <a:prstGeom prst="roundRect">
            <a:avLst/>
          </a:prstGeom>
          <a:solidFill>
            <a:srgbClr val="64D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客户不满意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2578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4BEC8"/>
                </a:solidFill>
              </a:defRPr>
            </a:pPr>
            <a:r>
              <a:t>客户对交付成果不满意</a:t>
            </a:r>
            <a:br/>
            <a:r>
              <a:t>回顾需求文档，对照验收标准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课堂练习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645920" cy="45720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64B4FF"/>
                </a:solidFill>
              </a:defRPr>
            </a:pPr>
            <a:r>
              <a:t>场景设定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4BEC8"/>
                </a:solidFill>
              </a:defRPr>
            </a:pPr>
            <a:r>
              <a:t>客户：我要一个看板，能看我们公司的经营数据，最好能看到各子公司的对比。</a:t>
            </a:r>
            <a:br/>
            <a:r>
              <a:t>背景：某集团企业，下属10家子公司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64B4FF"/>
                </a:solidFill>
              </a:defRPr>
            </a:pPr>
            <a:r>
              <a:t>练习任务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0896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4BEC8"/>
                </a:solidFill>
              </a:defRPr>
            </a:pPr>
            <a:r>
              <a:t>1. 将口语化需求转化为结构化的需求描述</a:t>
            </a:r>
            <a:br/>
            <a:r>
              <a:t>2. 列出至少3个需要确认的问题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B464"/>
                </a:solidFill>
              </a:defRPr>
            </a:pPr>
            <a:r>
              <a:t>⏱ 10分钟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参考答案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645920" cy="45720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4BEC8"/>
                </a:solidFill>
              </a:defRPr>
            </a:pPr>
            <a:r>
              <a:t>结构化需求描述</a:t>
            </a:r>
            <a:br/>
            <a:r>
              <a:t>功能需求：</a:t>
            </a:r>
            <a:br/>
            <a:r>
              <a:t>  • 数据看板展示企业经营数据</a:t>
            </a:r>
            <a:br/>
            <a:r>
              <a:t>  • 支持各子公司数据对比</a:t>
            </a:r>
            <a:br/>
            <a:r>
              <a:t>  • 支持时间维度筛选</a:t>
            </a:r>
            <a:br/>
            <a:r>
              <a:t>  • 支持钻取查看明细</a:t>
            </a:r>
            <a:br/>
            <a:r>
              <a:t>数据需求：</a:t>
            </a:r>
            <a:br/>
            <a:r>
              <a:t>  • 经营数据包括哪些指标？</a:t>
            </a:r>
            <a:br/>
            <a:r>
              <a:t>  • 数据来源是哪些系统？</a:t>
            </a:r>
            <a:br/>
            <a:br/>
            <a:r>
              <a:t>需确认问题：</a:t>
            </a:r>
            <a:br/>
            <a:r>
              <a:t>  1. 经营数据具体包括哪些指标？</a:t>
            </a:r>
            <a:br/>
            <a:r>
              <a:t>  2. 子公司数据如何对比？</a:t>
            </a:r>
            <a:br/>
            <a:r>
              <a:t>  3. 看板更新频率是多少？</a:t>
            </a:r>
            <a:br/>
            <a:r>
              <a:t>  4. 支持哪些终端访问？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805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C832"/>
                </a:solidFill>
              </a:defRPr>
            </a:pPr>
            <a:r>
              <a:t>关键点：需求确认的价值就在于避免返工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课程要点回顾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645920" cy="45720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C8D2DC"/>
                </a:solidFill>
              </a:defRPr>
            </a:pPr>
            <a:r>
              <a:t>1. 需求转化五阶段</a:t>
            </a:r>
            <a:br/>
            <a:r>
              <a:t>   采集 → 分析 → 设计 → 确认 → 交接</a:t>
            </a:r>
            <a:br/>
            <a:br/>
            <a:r>
              <a:t>2. 需求确认规范</a:t>
            </a:r>
            <a:br/>
            <a:r>
              <a:t>   确认书 + 原型演示 + 场景演练</a:t>
            </a:r>
            <a:br/>
            <a:br/>
            <a:r>
              <a:t>3. 售前交接规范</a:t>
            </a:r>
            <a:br/>
            <a:r>
              <a:t>   背景 + 需求 + 方案 + 计划 + 风险</a:t>
            </a:r>
            <a:br/>
            <a:br/>
            <a:r>
              <a:t>4. 问题应对</a:t>
            </a:r>
            <a:br/>
            <a:r>
              <a:t>   变更走流程 | 蔓延控边界 | 不满意回文档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976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64A0FF"/>
                </a:solidFill>
              </a:defRPr>
            </a:pPr>
            <a:r>
              <a:t>▶ 下节课：需求文档撰写实战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