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4114800"/>
            <a:ext cx="3200400" cy="32004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需求转化与交付规范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3840480"/>
            <a:ext cx="3931920" cy="36576"/>
          </a:xfrm>
          <a:prstGeom prst="rect">
            <a:avLst/>
          </a:prstGeom>
          <a:solidFill>
            <a:srgbClr val="3B82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41148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9CA3AF"/>
                </a:solidFill>
              </a:defRPr>
            </a:pPr>
            <a:r>
              <a:t>从客户需求到项目交付的规范流程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课程安排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371600" cy="36576"/>
          </a:xfrm>
          <a:prstGeom prst="rect">
            <a:avLst/>
          </a:prstGeom>
          <a:solidFill>
            <a:srgbClr val="2563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57200" y="1280160"/>
            <a:ext cx="640080" cy="6400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3716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需求转化流程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737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C96A0"/>
                </a:solidFill>
              </a:defRPr>
            </a:pPr>
            <a:r>
              <a:t>从需求到交付的完整链路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86000"/>
            <a:ext cx="640080" cy="6400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37744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需求确认规范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74320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C96A0"/>
                </a:solidFill>
              </a:defRPr>
            </a:pPr>
            <a:r>
              <a:t>确保需求理解准确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291840"/>
            <a:ext cx="640080" cy="6400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3832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售前交接规范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749039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C96A0"/>
                </a:solidFill>
              </a:defRPr>
            </a:pPr>
            <a:r>
              <a:t>项目交接的完整内容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4297680"/>
            <a:ext cx="640080" cy="6400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3891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常见问题处理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7548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C96A0"/>
                </a:solidFill>
              </a:defRPr>
            </a:pPr>
            <a:r>
              <a:t>变更、蔓延、不满意</a:t>
            </a:r>
          </a:p>
        </p:txBody>
      </p:sp>
      <p:sp>
        <p:nvSpPr>
          <p:cNvPr id="17" name="Oval 16"/>
          <p:cNvSpPr/>
          <p:nvPr/>
        </p:nvSpPr>
        <p:spPr>
          <a:xfrm>
            <a:off x="457200" y="5303520"/>
            <a:ext cx="640080" cy="6400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53949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课堂练习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576072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C96A0"/>
                </a:solidFill>
              </a:defRPr>
            </a:pPr>
            <a:r>
              <a:t>需求转化模拟演练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需求转化五阶段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371600" cy="36576"/>
          </a:xfrm>
          <a:prstGeom prst="rect">
            <a:avLst/>
          </a:prstGeom>
          <a:solidFill>
            <a:srgbClr val="2563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7280" y="1371600"/>
            <a:ext cx="731520" cy="73152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需求采集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517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6A0AA"/>
                </a:solidFill>
              </a:defRPr>
            </a:pPr>
            <a:r>
              <a:t>调研、访谈、问卷</a:t>
            </a:r>
          </a:p>
        </p:txBody>
      </p:sp>
      <p:sp>
        <p:nvSpPr>
          <p:cNvPr id="8" name="Oval 7"/>
          <p:cNvSpPr/>
          <p:nvPr/>
        </p:nvSpPr>
        <p:spPr>
          <a:xfrm>
            <a:off x="3383280" y="1371600"/>
            <a:ext cx="731520" cy="73152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22860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需求分析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26517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6A0AA"/>
                </a:solidFill>
              </a:defRPr>
            </a:pPr>
            <a:r>
              <a:t>分类、排序、可行性</a:t>
            </a:r>
          </a:p>
        </p:txBody>
      </p:sp>
      <p:sp>
        <p:nvSpPr>
          <p:cNvPr id="11" name="Oval 10"/>
          <p:cNvSpPr/>
          <p:nvPr/>
        </p:nvSpPr>
        <p:spPr>
          <a:xfrm>
            <a:off x="5669279" y="1371600"/>
            <a:ext cx="731520" cy="73152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22860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方案设计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26517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6A0AA"/>
                </a:solidFill>
              </a:defRPr>
            </a:pPr>
            <a:r>
              <a:t>技术方案、实施计划</a:t>
            </a:r>
          </a:p>
        </p:txBody>
      </p:sp>
      <p:sp>
        <p:nvSpPr>
          <p:cNvPr id="14" name="Oval 13"/>
          <p:cNvSpPr/>
          <p:nvPr/>
        </p:nvSpPr>
        <p:spPr>
          <a:xfrm>
            <a:off x="7955279" y="1371600"/>
            <a:ext cx="731520" cy="7315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22860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需求确认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26517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6A0AA"/>
                </a:solidFill>
              </a:defRPr>
            </a:pPr>
            <a:r>
              <a:t>确认书、原型、演练</a:t>
            </a:r>
          </a:p>
        </p:txBody>
      </p:sp>
      <p:sp>
        <p:nvSpPr>
          <p:cNvPr id="17" name="Oval 16"/>
          <p:cNvSpPr/>
          <p:nvPr/>
        </p:nvSpPr>
        <p:spPr>
          <a:xfrm>
            <a:off x="10241280" y="1371600"/>
            <a:ext cx="731520" cy="7315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0" y="22860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项目交接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0" y="26517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6A0AA"/>
                </a:solidFill>
              </a:defRPr>
            </a:pPr>
            <a:r>
              <a:t>交接给实施团队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阶段一：需求采集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371600" cy="36576"/>
          </a:xfrm>
          <a:prstGeom prst="rect">
            <a:avLst/>
          </a:prstGeom>
          <a:solidFill>
            <a:srgbClr val="2563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3474720" cy="1371600"/>
          </a:xfrm>
          <a:prstGeom prst="roundRect">
            <a:avLst/>
          </a:prstGeom>
          <a:solidFill>
            <a:srgbClr val="1419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客户访谈</a:t>
            </a:r>
          </a:p>
          <a:p>
            <a:pPr>
              <a:defRPr sz="1400">
                <a:solidFill>
                  <a:srgbClr val="A0AAB4"/>
                </a:solidFill>
              </a:defRPr>
            </a:pPr>
            <a:r>
              <a:t>与业务、IT、一线用户分别访谈</a:t>
            </a:r>
            <a:br/>
            <a:r>
              <a:t>了解不同角色需求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0" y="1280160"/>
            <a:ext cx="3474720" cy="1371600"/>
          </a:xfrm>
          <a:prstGeom prst="roundRect">
            <a:avLst/>
          </a:prstGeom>
          <a:solidFill>
            <a:srgbClr val="1419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问卷调查</a:t>
            </a:r>
          </a:p>
          <a:p>
            <a:pPr>
              <a:defRPr sz="1400">
                <a:solidFill>
                  <a:srgbClr val="A0AAB4"/>
                </a:solidFill>
              </a:defRPr>
            </a:pPr>
            <a:r>
              <a:t>针对大量用户的需求</a:t>
            </a:r>
            <a:br/>
            <a:r>
              <a:t>通过问卷收集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280160"/>
            <a:ext cx="3474720" cy="1371600"/>
          </a:xfrm>
          <a:prstGeom prst="roundRect">
            <a:avLst/>
          </a:prstGeom>
          <a:solidFill>
            <a:srgbClr val="1419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系统调研</a:t>
            </a:r>
          </a:p>
          <a:p>
            <a:pPr>
              <a:defRPr sz="1400">
                <a:solidFill>
                  <a:srgbClr val="A0AAB4"/>
                </a:solidFill>
              </a:defRPr>
            </a:pPr>
            <a:r>
              <a:t>调研现有系统的功能和数据</a:t>
            </a:r>
            <a:br/>
            <a:r>
              <a:t>发现问题和改进点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175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B82F6"/>
                </a:solidFill>
              </a:defRPr>
            </a:pPr>
            <a:r>
              <a:t>注意事项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474720"/>
            <a:ext cx="10972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B4BEC8"/>
                </a:solidFill>
              </a:defRPr>
            </a:pPr>
            <a:r>
              <a:t>• 采集要全面 - 不要只听领导的话，要了解一线用户</a:t>
            </a:r>
            <a:br/>
            <a:r>
              <a:t>• 记录要详细 - 原话记录，不要主观理解</a:t>
            </a:r>
            <a:br/>
            <a:r>
              <a:t>• 确认要充分 - 复述确认，避免理解偏差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阶段二：需求分析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371600" cy="36576"/>
          </a:xfrm>
          <a:prstGeom prst="rect">
            <a:avLst/>
          </a:prstGeom>
          <a:solidFill>
            <a:srgbClr val="2563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3474720" cy="1828800"/>
          </a:xfrm>
          <a:prstGeom prst="roundRect">
            <a:avLst/>
          </a:prstGeom>
          <a:solidFill>
            <a:srgbClr val="1419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需求分类</a:t>
            </a:r>
          </a:p>
          <a:p>
            <a:pPr>
              <a:defRPr sz="1400">
                <a:solidFill>
                  <a:srgbClr val="A0AAB4"/>
                </a:solidFill>
              </a:defRPr>
            </a:pPr>
            <a:r>
              <a:t>功能需求</a:t>
            </a:r>
            <a:br/>
            <a:r>
              <a:t>非功能需求</a:t>
            </a:r>
            <a:br/>
            <a:r>
              <a:t>数据需求</a:t>
            </a:r>
            <a:br/>
            <a:r>
              <a:t>集成需求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0" y="1188720"/>
            <a:ext cx="3474720" cy="1828800"/>
          </a:xfrm>
          <a:prstGeom prst="roundRect">
            <a:avLst/>
          </a:prstGeom>
          <a:solidFill>
            <a:srgbClr val="1419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优先级排序</a:t>
            </a:r>
          </a:p>
          <a:p>
            <a:pPr>
              <a:defRPr sz="1400">
                <a:solidFill>
                  <a:srgbClr val="A0AAB4"/>
                </a:solidFill>
              </a:defRPr>
            </a:pPr>
            <a:r>
              <a:t>业务价值</a:t>
            </a:r>
            <a:br/>
            <a:r>
              <a:t>技术难度</a:t>
            </a:r>
            <a:br/>
            <a:r>
              <a:t>实施周期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188720"/>
            <a:ext cx="3474720" cy="1828800"/>
          </a:xfrm>
          <a:prstGeom prst="roundRect">
            <a:avLst/>
          </a:prstGeom>
          <a:solidFill>
            <a:srgbClr val="1419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可行性分析</a:t>
            </a:r>
          </a:p>
          <a:p>
            <a:pPr>
              <a:defRPr sz="1400">
                <a:solidFill>
                  <a:srgbClr val="A0AAB4"/>
                </a:solidFill>
              </a:defRPr>
            </a:pPr>
            <a:r>
              <a:t>技术可行性</a:t>
            </a:r>
            <a:br/>
            <a:r>
              <a:t>成本合理性</a:t>
            </a:r>
            <a:br/>
            <a:r>
              <a:t>风险可控性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9184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6A0AA"/>
                </a:solidFill>
              </a:defRPr>
            </a:pPr>
            <a:r>
              <a:t>输出：需求清单（包含需求描述、类型、优先级、验收标准）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阶段三：需求确认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371600" cy="36576"/>
          </a:xfrm>
          <a:prstGeom prst="rect">
            <a:avLst/>
          </a:prstGeom>
          <a:solidFill>
            <a:srgbClr val="2563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C864"/>
                </a:solidFill>
              </a:defRPr>
            </a:pPr>
            <a:r>
              <a:t>为什么需求确认很重要？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EC8"/>
                </a:solidFill>
              </a:defRPr>
            </a:pPr>
            <a:r>
              <a:t>很多项目失败的原因就是需求理解偏差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377440"/>
            <a:ext cx="3474720" cy="2011680"/>
          </a:xfrm>
          <a:prstGeom prst="roundRect">
            <a:avLst/>
          </a:prstGeom>
          <a:solidFill>
            <a:srgbClr val="1419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  <a:p>
            <a:pPr>
              <a:defRPr sz="1400">
                <a:solidFill>
                  <a:srgbClr val="A0AAB4"/>
                </a:solidFill>
              </a:defRPr>
            </a:pPr>
            <a:r>
              <a:t>需求确认书</a:t>
            </a:r>
            <a:br/>
            <a:br/>
            <a:r>
              <a:t>整理成文档</a:t>
            </a:r>
            <a:br/>
            <a:r>
              <a:t>让客户签字确认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2377440"/>
            <a:ext cx="3474720" cy="2011680"/>
          </a:xfrm>
          <a:prstGeom prst="roundRect">
            <a:avLst/>
          </a:prstGeom>
          <a:solidFill>
            <a:srgbClr val="1419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  <a:p>
            <a:pPr>
              <a:defRPr sz="1400">
                <a:solidFill>
                  <a:srgbClr val="A0AAB4"/>
                </a:solidFill>
              </a:defRPr>
            </a:pPr>
            <a:r>
              <a:t>原型演示</a:t>
            </a:r>
            <a:br/>
            <a:br/>
            <a:r>
              <a:t>通过原型</a:t>
            </a:r>
            <a:br/>
            <a:r>
              <a:t>让客户直观看到效果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2377440"/>
            <a:ext cx="3474720" cy="2011680"/>
          </a:xfrm>
          <a:prstGeom prst="roundRect">
            <a:avLst/>
          </a:prstGeom>
          <a:solidFill>
            <a:srgbClr val="1419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  <a:p>
            <a:pPr>
              <a:defRPr sz="1400">
                <a:solidFill>
                  <a:srgbClr val="A0AAB4"/>
                </a:solidFill>
              </a:defRPr>
            </a:pPr>
            <a:r>
              <a:t>场景演练</a:t>
            </a:r>
            <a:br/>
            <a:br/>
            <a:r>
              <a:t>模拟业务场景</a:t>
            </a:r>
            <a:br/>
            <a:r>
              <a:t>验证需求覆盖完整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6634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BBF24"/>
                </a:solidFill>
              </a:defRPr>
            </a:pPr>
            <a:r>
              <a:t>记住：需求确认宁可多做，不要少做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阶段四：售前交接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371600" cy="36576"/>
          </a:xfrm>
          <a:prstGeom prst="rect">
            <a:avLst/>
          </a:prstGeom>
          <a:solidFill>
            <a:srgbClr val="2563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188720"/>
            <a:ext cx="2194560" cy="1828800"/>
          </a:xfrm>
          <a:prstGeom prst="roundRect">
            <a:avLst/>
          </a:prstGeom>
          <a:solidFill>
            <a:srgbClr val="1419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客户背景</a:t>
            </a:r>
          </a:p>
          <a:p>
            <a:pPr>
              <a:defRPr sz="1400">
                <a:solidFill>
                  <a:srgbClr val="A0AAB4"/>
                </a:solidFill>
              </a:defRPr>
            </a:pPr>
            <a:r>
              <a:t>组织架构</a:t>
            </a:r>
            <a:br/>
            <a:r>
              <a:t>决策流程</a:t>
            </a:r>
            <a:br/>
            <a:r>
              <a:t>关键人员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1188720"/>
            <a:ext cx="2194560" cy="1828800"/>
          </a:xfrm>
          <a:prstGeom prst="roundRect">
            <a:avLst/>
          </a:prstGeom>
          <a:solidFill>
            <a:srgbClr val="1419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需求文档</a:t>
            </a:r>
          </a:p>
          <a:p>
            <a:pPr>
              <a:defRPr sz="1400">
                <a:solidFill>
                  <a:srgbClr val="A0AAB4"/>
                </a:solidFill>
              </a:defRPr>
            </a:pPr>
            <a:r>
              <a:t>需求清单</a:t>
            </a:r>
            <a:br/>
            <a:r>
              <a:t>优先级</a:t>
            </a:r>
            <a:br/>
            <a:r>
              <a:t>验收标准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1188720"/>
            <a:ext cx="2194560" cy="1828800"/>
          </a:xfrm>
          <a:prstGeom prst="roundRect">
            <a:avLst/>
          </a:prstGeom>
          <a:solidFill>
            <a:srgbClr val="1419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技术方案</a:t>
            </a:r>
          </a:p>
          <a:p>
            <a:pPr>
              <a:defRPr sz="1400">
                <a:solidFill>
                  <a:srgbClr val="A0AAB4"/>
                </a:solidFill>
              </a:defRPr>
            </a:pPr>
            <a:r>
              <a:t>系统架构</a:t>
            </a:r>
            <a:br/>
            <a:r>
              <a:t>技术选型</a:t>
            </a:r>
            <a:br/>
            <a:r>
              <a:t>部署方案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0" y="1188720"/>
            <a:ext cx="2194560" cy="1828800"/>
          </a:xfrm>
          <a:prstGeom prst="roundRect">
            <a:avLst/>
          </a:prstGeom>
          <a:solidFill>
            <a:srgbClr val="1419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项目计划</a:t>
            </a:r>
          </a:p>
          <a:p>
            <a:pPr>
              <a:defRPr sz="1400">
                <a:solidFill>
                  <a:srgbClr val="A0AAB4"/>
                </a:solidFill>
              </a:defRPr>
            </a:pPr>
            <a:r>
              <a:t>里程碑</a:t>
            </a:r>
            <a:br/>
            <a:r>
              <a:t>时间节点</a:t>
            </a:r>
            <a:br/>
            <a:r>
              <a:t>资源安排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875520" y="1188720"/>
            <a:ext cx="2194560" cy="1828800"/>
          </a:xfrm>
          <a:prstGeom prst="roundRect">
            <a:avLst/>
          </a:prstGeom>
          <a:solidFill>
            <a:srgbClr val="1419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风险清单</a:t>
            </a:r>
          </a:p>
          <a:p>
            <a:pPr>
              <a:defRPr sz="1400">
                <a:solidFill>
                  <a:srgbClr val="A0AAB4"/>
                </a:solidFill>
              </a:defRPr>
            </a:pPr>
            <a:r>
              <a:t>已识别风险</a:t>
            </a:r>
            <a:br/>
            <a:r>
              <a:t>及应对措施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918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60A5FA"/>
                </a:solidFill>
              </a:defRPr>
            </a:pPr>
            <a:r>
              <a:t>角色转变：交接完成后，售前从主导转为支持实施团队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常见问题处理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371600" cy="36576"/>
          </a:xfrm>
          <a:prstGeom prst="rect">
            <a:avLst/>
          </a:prstGeom>
          <a:solidFill>
            <a:srgbClr val="2563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87171"/>
                </a:solidFill>
              </a:defRPr>
            </a:pPr>
            <a:r>
              <a:t>需求变更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B4BEC8"/>
                </a:solidFill>
              </a:defRPr>
            </a:pPr>
            <a:r>
              <a:t>问题：客户在项目过程中提出新需求或修改需求</a:t>
            </a:r>
            <a:br/>
            <a:r>
              <a:t>应对：建立变更流程，评估影响，签订变更协议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60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BBF24"/>
                </a:solidFill>
              </a:defRPr>
            </a:pPr>
            <a:r>
              <a:t>范围蔓延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260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B4BEC8"/>
                </a:solidFill>
              </a:defRPr>
            </a:pPr>
            <a:r>
              <a:t>问题：项目范围不断扩大，超出原定边界</a:t>
            </a:r>
            <a:br/>
            <a:r>
              <a:t>应对：明确项目边界，超出范围单独报价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749039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4D399"/>
                </a:solidFill>
              </a:defRPr>
            </a:pPr>
            <a:r>
              <a:t>客户不满意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1148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B4BEC8"/>
                </a:solidFill>
              </a:defRPr>
            </a:pPr>
            <a:r>
              <a:t>问题：客户对交付成果不满意</a:t>
            </a:r>
            <a:br/>
            <a:r>
              <a:t>应对：回顾需求文档，对照验收标准，协商解决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课堂练习：需求确认模拟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371600" cy="36576"/>
          </a:xfrm>
          <a:prstGeom prst="rect">
            <a:avLst/>
          </a:prstGeom>
          <a:solidFill>
            <a:srgbClr val="2563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60A5FA"/>
                </a:solidFill>
              </a:defRPr>
            </a:pPr>
            <a:r>
              <a:t>场景设定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B4BEC8"/>
                </a:solidFill>
              </a:defRPr>
            </a:pPr>
            <a:r>
              <a:t>客户：我要一个看板，能看我们公司的经营数据，最好能看到各子公司的对比。</a:t>
            </a:r>
            <a:br/>
            <a:r>
              <a:t>背景：某集团企业，下属10家子公司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3464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60A5FA"/>
                </a:solidFill>
              </a:defRPr>
            </a:pPr>
            <a:r>
              <a:t>练习任务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004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B4BEC8"/>
                </a:solidFill>
              </a:defRPr>
            </a:pPr>
            <a:r>
              <a:t>1. 将口语化需求转化为结构化的需求描述</a:t>
            </a:r>
            <a:br/>
            <a:r>
              <a:t>2. 列出至少3个需要确认的问题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参考答案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371600" cy="36576"/>
          </a:xfrm>
          <a:prstGeom prst="rect">
            <a:avLst/>
          </a:prstGeom>
          <a:solidFill>
            <a:srgbClr val="2563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09728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B4BEC8"/>
                </a:solidFill>
              </a:defRPr>
            </a:pPr>
            <a:r>
              <a:t>结构化需求描述</a:t>
            </a:r>
            <a:br/>
            <a:r>
              <a:t>功能需求：</a:t>
            </a:r>
            <a:br/>
            <a:r>
              <a:t>• 数据看板展示企业经营数据</a:t>
            </a:r>
            <a:br/>
            <a:r>
              <a:t>• 支持各子公司数据对比</a:t>
            </a:r>
            <a:br/>
            <a:r>
              <a:t>• 支持时间维度筛选</a:t>
            </a:r>
            <a:br/>
            <a:r>
              <a:t>• 支持钻取查看明细</a:t>
            </a:r>
            <a:br/>
            <a:br/>
            <a:r>
              <a:t>数据需求：</a:t>
            </a:r>
            <a:br/>
            <a:r>
              <a:t>• 经营数据包括哪些指标？</a:t>
            </a:r>
            <a:br/>
            <a:r>
              <a:t>• 数据来源是哪些系统？</a:t>
            </a:r>
            <a:br/>
            <a:br/>
            <a:r>
              <a:t>需要确认的问题：</a:t>
            </a:r>
            <a:br/>
            <a:r>
              <a:t>1. 经营数据具体包括哪些指标？</a:t>
            </a:r>
            <a:br/>
            <a:r>
              <a:t>2. 子公司数据如何对比？</a:t>
            </a:r>
            <a:br/>
            <a:r>
              <a:t>3. 看板更新频率是多少？</a:t>
            </a:r>
            <a:br/>
            <a:r>
              <a:t>4. 支持哪些终端访问？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BBF24"/>
                </a:solidFill>
              </a:defRPr>
            </a:pPr>
            <a:r>
              <a:t>关键点：需求确认的价值就在于避免返工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课程要点回顾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371600" cy="36576"/>
          </a:xfrm>
          <a:prstGeom prst="rect">
            <a:avLst/>
          </a:prstGeom>
          <a:solidFill>
            <a:srgbClr val="2563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0972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8D2DC"/>
                </a:solidFill>
              </a:defRPr>
            </a:pPr>
            <a:r>
              <a:t>1. 需求转化五阶段</a:t>
            </a:r>
            <a:br/>
            <a:r>
              <a:t>    采集、分析、设计、确认、交接，环环相扣</a:t>
            </a:r>
            <a:br/>
            <a:br/>
            <a:r>
              <a:t>2. 需求确认规范</a:t>
            </a:r>
            <a:br/>
            <a:r>
              <a:t>    确认书、原型演示、场景演练，确保理解准确</a:t>
            </a:r>
            <a:br/>
            <a:br/>
            <a:r>
              <a:t>3. 售前交接规范</a:t>
            </a:r>
            <a:br/>
            <a:r>
              <a:t>    背景、需求、方案、计划、风险，全面交接</a:t>
            </a:r>
            <a:br/>
            <a:br/>
            <a:r>
              <a:t>4. 问题应对</a:t>
            </a:r>
            <a:br/>
            <a:r>
              <a:t>    变更走流程、蔓延控边界、不满意回需求文档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062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60A5FA"/>
                </a:solidFill>
              </a:defRPr>
            </a:pPr>
            <a:r>
              <a:t>下节课：需求文档撰写实战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