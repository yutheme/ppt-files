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000" b="1">
                <a:solidFill>
                  <a:srgbClr val="FFFFFF"/>
                </a:solidFill>
              </a:defRPr>
            </a:pPr>
            <a:r>
              <a:t>需求转化与交付规范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8C8C8C"/>
                </a:solidFill>
              </a:defRPr>
            </a:pPr>
            <a:r>
              <a:t>从客户需求到项目交付的规范流程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课程安排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4B4"/>
                </a:solidFill>
              </a:defRPr>
            </a:pPr>
            <a:r>
              <a:t>01  需求转化流程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4B4"/>
                </a:solidFill>
              </a:defRPr>
            </a:pPr>
            <a:r>
              <a:t>02  需求确认规范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4B4"/>
                </a:solidFill>
              </a:defRPr>
            </a:pPr>
            <a:r>
              <a:t>03  售前交接规范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20439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4B4"/>
                </a:solidFill>
              </a:defRPr>
            </a:pPr>
            <a:r>
              <a:t>04  常见问题处理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97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4B4"/>
                </a:solidFill>
              </a:defRPr>
            </a:pPr>
            <a:r>
              <a:t>05  课堂练习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需求转化五阶段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4B4"/>
                </a:solidFill>
              </a:defRPr>
            </a:pPr>
            <a:r>
              <a:t>01  需求采集    调研、访谈、问卷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4B4"/>
                </a:solidFill>
              </a:defRPr>
            </a:pPr>
            <a:r>
              <a:t>02  需求分析    分类、排序、可行性分析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4B4"/>
                </a:solidFill>
              </a:defRPr>
            </a:pPr>
            <a:r>
              <a:t>03  方案设计    技术方案和实施计划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20439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4B4"/>
                </a:solidFill>
              </a:defRPr>
            </a:pPr>
            <a:r>
              <a:t>04  需求确认    确认书、原型、场景演练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97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4B4"/>
                </a:solidFill>
              </a:defRPr>
            </a:pPr>
            <a:r>
              <a:t>05  项目交接    交接给实施团队启动交付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阶段一：需求采集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4B4"/>
                </a:solidFill>
              </a:defRPr>
            </a:pPr>
            <a:r>
              <a:t>三种方式：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4B4"/>
                </a:solidFill>
              </a:defRPr>
            </a:pPr>
            <a:r>
              <a:t>  • 客户访谈 - 与业务、IT、一线用户分别访谈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4B4"/>
                </a:solidFill>
              </a:defRPr>
            </a:pPr>
            <a:r>
              <a:t>  • 问卷调查 - 针对大量用户的需求，通过问卷收集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20439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4B4"/>
                </a:solidFill>
              </a:defRPr>
            </a:pPr>
            <a:r>
              <a:t>  • 系统调研 - 调研现有系统功能和数据，发现改进点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97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4B4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457200" y="5074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4B4"/>
                </a:solidFill>
              </a:defRPr>
            </a:pPr>
            <a:r>
              <a:t>注意事项：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852159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4B4"/>
                </a:solidFill>
              </a:defRPr>
            </a:pPr>
            <a:r>
              <a:t>  • 采集要全面    • 记录要详细    • 确认要充分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阶段二：需求分析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4B4"/>
                </a:solidFill>
              </a:defRPr>
            </a:pPr>
            <a:r>
              <a:t>核心工作：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4B4"/>
                </a:solidFill>
              </a:defRPr>
            </a:pPr>
            <a:r>
              <a:t>  1. 需求分类 - 功能需求、非功能需求、数据需求、集成需求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4B4"/>
                </a:solidFill>
              </a:defRPr>
            </a:pPr>
            <a:r>
              <a:t>  2. 优先级排序 - 按业务价值、技术难度、实施周期排序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20439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4B4"/>
                </a:solidFill>
              </a:defRPr>
            </a:pPr>
            <a:r>
              <a:t>  3. 可行性分析 - 技术可行性、成本合理性、风险可控性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97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4B4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457200" y="5074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4B4"/>
                </a:solidFill>
              </a:defRPr>
            </a:pPr>
            <a:r>
              <a:t>输出：需求清单（包含需求描述、类型、优先级、验收标准）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阶段三：需求确认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4B4"/>
                </a:solidFill>
              </a:defRPr>
            </a:pPr>
            <a:r>
              <a:t>为什么需求确认很重要？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4B4"/>
                </a:solidFill>
              </a:defRPr>
            </a:pPr>
            <a:r>
              <a:t>很多项目失败的原因就是需求理解偏差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4B4"/>
                </a:solidFill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457200" y="3520439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4B4"/>
                </a:solidFill>
              </a:defRPr>
            </a:pPr>
            <a:r>
              <a:t>确认方式：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97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4B4"/>
                </a:solidFill>
              </a:defRPr>
            </a:pPr>
            <a:r>
              <a:t>  1. 需求确认书 - 整理成文档，让客户签字确认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74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4B4"/>
                </a:solidFill>
              </a:defRPr>
            </a:pPr>
            <a:r>
              <a:t>  2. 原型演示 - 通过原型让客户直观看到效果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852159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4B4"/>
                </a:solidFill>
              </a:defRPr>
            </a:pPr>
            <a:r>
              <a:t>  3. 场景演练 - 模拟业务场景，验证需求覆盖完整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629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4B4"/>
                </a:solidFill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457200" y="74066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4B4"/>
                </a:solidFill>
              </a:defRPr>
            </a:pPr>
            <a:r>
              <a:t>记住：需求确认宁可多做，不要少做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阶段四：售前交接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4B4"/>
                </a:solidFill>
              </a:defRPr>
            </a:pPr>
            <a:r>
              <a:t>交接内容：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4B4"/>
                </a:solidFill>
              </a:defRPr>
            </a:pPr>
            <a:r>
              <a:t>  • 客户背景 - 组织架构、决策流程、关键人员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4B4"/>
                </a:solidFill>
              </a:defRPr>
            </a:pPr>
            <a:r>
              <a:t>  • 需求文档 - 需求清单、优先级、验收标准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20439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4B4"/>
                </a:solidFill>
              </a:defRPr>
            </a:pPr>
            <a:r>
              <a:t>  • 技术方案 - 系统架构、技术选型、部署方案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97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4B4"/>
                </a:solidFill>
              </a:defRPr>
            </a:pPr>
            <a:r>
              <a:t>  • 项目计划 - 里程碑、时间节点、资源安排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74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4B4"/>
                </a:solidFill>
              </a:defRPr>
            </a:pPr>
            <a:r>
              <a:t>  • 风险清单 - 已识别风险及应对措施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852159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4B4"/>
                </a:solidFill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57200" y="6629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4B4"/>
                </a:solidFill>
              </a:defRPr>
            </a:pPr>
            <a:r>
              <a:t>交接后：售前从主导转为支持实施团队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常见问题处理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4B4"/>
                </a:solidFill>
              </a:defRPr>
            </a:pPr>
            <a:r>
              <a:t>需求变更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4B4"/>
                </a:solidFill>
              </a:defRPr>
            </a:pPr>
            <a:r>
              <a:t>  问题：客户在项目过程中提出新需求或修改需求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4B4"/>
                </a:solidFill>
              </a:defRPr>
            </a:pPr>
            <a:r>
              <a:t>  应对：建立变更流程，评估影响，签订变更协议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20439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4B4"/>
                </a:solidFill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457200" y="4297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4B4"/>
                </a:solidFill>
              </a:defRPr>
            </a:pPr>
            <a:r>
              <a:t>范围蔓延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74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4B4"/>
                </a:solidFill>
              </a:defRPr>
            </a:pPr>
            <a:r>
              <a:t>  问题：项目范围不断扩大，超出原定边界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852159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4B4"/>
                </a:solidFill>
              </a:defRPr>
            </a:pPr>
            <a:r>
              <a:t>  应对：明确项目边界，超出范围单独报价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629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4B4"/>
                </a:solidFill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457200" y="74066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4B4"/>
                </a:solidFill>
              </a:defRPr>
            </a:pPr>
            <a:r>
              <a:t>客户不满意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183879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4B4"/>
                </a:solidFill>
              </a:defRPr>
            </a:pPr>
            <a:r>
              <a:t>  问题：客户对交付成果不满意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89611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4B4"/>
                </a:solidFill>
              </a:defRPr>
            </a:pPr>
            <a:r>
              <a:t>  应对：回顾需求文档，对照验收标准，协商解决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课堂练习：需求确认模拟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4B4"/>
                </a:solidFill>
              </a:defRPr>
            </a:pPr>
            <a:r>
              <a:t>场景设定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4B4"/>
                </a:solidFill>
              </a:defRPr>
            </a:pPr>
            <a:r>
              <a:t>  客户：我要一个看板，能看我们公司的经营数据，最好能看到各子公司的对比。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4B4"/>
                </a:solidFill>
              </a:defRPr>
            </a:pPr>
            <a:r>
              <a:t>  背景：某集团企业，下属10家子公司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20439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4B4"/>
                </a:solidFill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457200" y="4297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4B4"/>
                </a:solidFill>
              </a:defRPr>
            </a:pPr>
            <a:r>
              <a:t>练习任务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74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4B4"/>
                </a:solidFill>
              </a:defRPr>
            </a:pPr>
            <a:r>
              <a:t>  1. 将口语化需求转化为结构化的需求描述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852159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4B4"/>
                </a:solidFill>
              </a:defRPr>
            </a:pPr>
            <a:r>
              <a:t>  2. 列出至少3个需要确认的问题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629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4B4"/>
                </a:solidFill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457200" y="74066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4B4"/>
                </a:solidFill>
              </a:defRPr>
            </a:pPr>
            <a:r>
              <a:t>时间：10分钟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参考答案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4B4"/>
                </a:solidFill>
              </a:defRPr>
            </a:pPr>
            <a:r>
              <a:t>结构化需求描述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4B4"/>
                </a:solidFill>
              </a:defRPr>
            </a:pPr>
            <a:r>
              <a:t>  功能需求：数据看板展示经营数据，支持各子公司数据对比，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4B4"/>
                </a:solidFill>
              </a:defRPr>
            </a:pPr>
            <a:r>
              <a:t>            支持时间维度筛选，支持钻取查看明细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20439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4B4"/>
                </a:solidFill>
              </a:defRPr>
            </a:pPr>
            <a:r>
              <a:t>  数据需求：经营数据包括哪些指标？数据来源是哪些系统？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97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4B4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457200" y="5074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4B4"/>
                </a:solidFill>
              </a:defRPr>
            </a:pPr>
            <a:r>
              <a:t>需要确认的问题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852159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4B4"/>
                </a:solidFill>
              </a:defRPr>
            </a:pPr>
            <a:r>
              <a:t>  1. 经营数据具体包括哪些指标？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629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4B4"/>
                </a:solidFill>
              </a:defRPr>
            </a:pPr>
            <a:r>
              <a:t>  2. 子公司数据如何对比？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066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4B4"/>
                </a:solidFill>
              </a:defRPr>
            </a:pPr>
            <a:r>
              <a:t>  3. 看板更新频率是多少？支持哪些终端访问？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183879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4B4"/>
                </a:solidFill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457200" y="89611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4B4"/>
                </a:solidFill>
              </a:defRPr>
            </a:pPr>
            <a:r>
              <a:t>关键点：需求确认的价值就在于避免返工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课程要点回顾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4B4"/>
                </a:solidFill>
              </a:defRPr>
            </a:pPr>
            <a:r>
              <a:t>1. 需求转化五阶段 - 采集、分析、设计、确认、交接，环环相扣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4B4"/>
                </a:solidFill>
              </a:defRPr>
            </a:pPr>
            <a:r>
              <a:t>2. 需求确认规范 - 确认书、原型演示、场景演练，确保理解准确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4B4"/>
                </a:solidFill>
              </a:defRPr>
            </a:pPr>
            <a:r>
              <a:t>3. 售前交接规范 - 背景、需求、方案、计划、风险，全面交接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20439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4B4"/>
                </a:solidFill>
              </a:defRPr>
            </a:pPr>
            <a:r>
              <a:t>4. 问题应对 - 变更走流程、蔓延控边界、不满意回需求文档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97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4B4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457200" y="5074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4B4"/>
                </a:solidFill>
              </a:defRPr>
            </a:pPr>
            <a:r>
              <a:t>下节课：需求文档撰写实战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